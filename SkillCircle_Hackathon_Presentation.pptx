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731520"/>
            <a:ext cx="4114800" cy="4114800"/>
          </a:xfrm>
          <a:prstGeom prst="ellipse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566160"/>
            <a:ext cx="2926080" cy="2926080"/>
          </a:xfrm>
          <a:prstGeom prst="ellipse">
            <a:avLst/>
          </a:prstGeom>
          <a:solidFill>
            <a:srgbClr val="2B5D43"/>
          </a:solidFill>
          <a:ln>
            <a:solidFill>
              <a:srgbClr val="2B5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1828800"/>
            <a:ext cx="960120" cy="960120"/>
          </a:xfrm>
          <a:prstGeom prst="ellipse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DBEBDB"/>
                </a:solidFill>
                <a:latin typeface="Aptos"/>
              </a:rPr>
              <a:t>HACKATHON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7132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SkillCircle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76656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E5EFE2"/>
                </a:solidFill>
                <a:latin typeface="Aptos"/>
              </a:rPr>
              <a:t>A Neighborhood Skill</a:t>
            </a:r>
          </a:p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E5EFE2"/>
                </a:solidFill>
                <a:latin typeface="Aptos"/>
              </a:rPr>
              <a:t>Exchange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75887"/>
            <a:ext cx="6400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1">
                <a:solidFill>
                  <a:srgbClr val="D3E4D0"/>
                </a:solidFill>
                <a:latin typeface="Aptos"/>
              </a:rPr>
              <a:t>Your Neighborhood Has a Lot to Offer.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2331720"/>
            <a:ext cx="1051560" cy="1051560"/>
          </a:xfrm>
          <a:prstGeom prst="ellipse">
            <a:avLst/>
          </a:prstGeom>
          <a:solidFill>
            <a:srgbClr val="F9F7EF"/>
          </a:solidFill>
          <a:ln>
            <a:solidFill>
              <a:srgbClr val="F9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46920" y="1737360"/>
            <a:ext cx="1051560" cy="1051560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0" y="2926080"/>
            <a:ext cx="1051560" cy="1051560"/>
          </a:xfrm>
          <a:prstGeom prst="ellipse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189720" y="2286000"/>
            <a:ext cx="457200" cy="393192"/>
          </a:xfrm>
          <a:prstGeom prst="line">
            <a:avLst/>
          </a:prstGeom>
          <a:ln w="25400">
            <a:solidFill>
              <a:srgbClr val="F9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68128" y="2788920"/>
            <a:ext cx="301752" cy="228600"/>
          </a:xfrm>
          <a:prstGeom prst="line">
            <a:avLst/>
          </a:prstGeom>
          <a:ln w="25400">
            <a:solidFill>
              <a:srgbClr val="F9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3273552"/>
            <a:ext cx="914400" cy="155448"/>
          </a:xfrm>
          <a:prstGeom prst="line">
            <a:avLst/>
          </a:prstGeom>
          <a:ln w="25400">
            <a:solidFill>
              <a:srgbClr val="F9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0" y="2578608"/>
            <a:ext cx="1051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1F4D39"/>
                </a:solidFill>
                <a:latin typeface="Aptos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029968"/>
            <a:ext cx="1051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1F4D39"/>
                </a:solidFill>
                <a:latin typeface="Aptos"/>
              </a:rPr>
              <a:t>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27832"/>
            <a:ext cx="1051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1F4D39"/>
                </a:solidFill>
                <a:latin typeface="Aptos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66928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Team Members: [Add names]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6016752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3E4D0"/>
                </a:solidFill>
                <a:latin typeface="Aptos"/>
              </a:rPr>
              <a:t>Hackathon: [Add name]  •  Date: [Add date]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DBEBD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02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F4D39"/>
                </a:solidFill>
                <a:latin typeface="Aptos"/>
              </a:rPr>
              <a:t>A community-powered way to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167"/>
                </a:solidFill>
                <a:latin typeface="Aptos"/>
              </a:rPr>
              <a:t>SkillCircle helps neighbors discover the knowledge already present around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713232" cy="50292"/>
          </a:xfrm>
          <a:prstGeom prst="rect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7167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8463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F4D39"/>
                </a:solidFill>
                <a:latin typeface="Aptos"/>
              </a:rPr>
              <a:t>People have skills worth sharing.</a:t>
            </a:r>
          </a:p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F4D39"/>
                </a:solidFill>
                <a:latin typeface="Aptos"/>
              </a:rPr>
              <a:t>SkillCircle gives those skills a local place to meet.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41648"/>
            <a:ext cx="470916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47167"/>
                </a:solidFill>
                <a:latin typeface="Aptos"/>
              </a:rPr>
              <a:t>Residents can list what they know, explore offerings from nearby people, and request to learn a skill. Exchanges may be free, reciprocal, or arranged by mutual agreement.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57400"/>
            <a:ext cx="5349240" cy="3429000"/>
          </a:xfrm>
          <a:prstGeom prst="roundRect">
            <a:avLst/>
          </a:prstGeom>
          <a:solidFill>
            <a:srgbClr val="EDF3E9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LOCAL KNOWLEDGE NETWORK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3063240"/>
            <a:ext cx="594360" cy="594360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1546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72160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6312A"/>
                </a:solidFill>
                <a:latin typeface="Aptos"/>
              </a:rPr>
              <a:t>Cook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0" y="2880360"/>
            <a:ext cx="594360" cy="594360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53872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6312A"/>
                </a:solidFill>
                <a:latin typeface="Aptos"/>
              </a:rPr>
              <a:t>Tutor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0" y="3337560"/>
            <a:ext cx="594360" cy="594360"/>
          </a:xfrm>
          <a:prstGeom prst="ellipse">
            <a:avLst/>
          </a:prstGeom>
          <a:solidFill>
            <a:srgbClr val="E7DDBD"/>
          </a:solidFill>
          <a:ln>
            <a:solidFill>
              <a:srgbClr val="E7D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342900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399592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6312A"/>
                </a:solidFill>
                <a:latin typeface="Aptos"/>
              </a:rPr>
              <a:t>Design</a:t>
            </a:r>
          </a:p>
        </p:txBody>
      </p:sp>
      <p:sp>
        <p:nvSpPr>
          <p:cNvPr id="21" name="Oval 20"/>
          <p:cNvSpPr/>
          <p:nvPr/>
        </p:nvSpPr>
        <p:spPr>
          <a:xfrm>
            <a:off x="7452360" y="4343400"/>
            <a:ext cx="594360" cy="594360"/>
          </a:xfrm>
          <a:prstGeom prst="ellipse">
            <a:avLst/>
          </a:prstGeom>
          <a:solidFill>
            <a:srgbClr val="E7DDBD"/>
          </a:solidFill>
          <a:ln>
            <a:solidFill>
              <a:srgbClr val="E7D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43484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500176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6312A"/>
                </a:solidFill>
                <a:latin typeface="Aptos"/>
              </a:rPr>
              <a:t>Gardening</a:t>
            </a:r>
          </a:p>
        </p:txBody>
      </p:sp>
      <p:sp>
        <p:nvSpPr>
          <p:cNvPr id="24" name="Oval 23"/>
          <p:cNvSpPr/>
          <p:nvPr/>
        </p:nvSpPr>
        <p:spPr>
          <a:xfrm>
            <a:off x="9464040" y="4434840"/>
            <a:ext cx="594360" cy="594360"/>
          </a:xfrm>
          <a:prstGeom prst="ellipse">
            <a:avLst/>
          </a:prstGeom>
          <a:solidFill>
            <a:srgbClr val="E7DDBD"/>
          </a:solidFill>
          <a:ln>
            <a:solidFill>
              <a:srgbClr val="E7D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4526279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5093207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6312A"/>
                </a:solidFill>
                <a:latin typeface="Aptos"/>
              </a:rPr>
              <a:t>Music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132320" y="3154680"/>
            <a:ext cx="1170432" cy="182880"/>
          </a:xfrm>
          <a:prstGeom prst="line">
            <a:avLst/>
          </a:prstGeom>
          <a:ln w="1778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87968" y="3246120"/>
            <a:ext cx="1106424" cy="338328"/>
          </a:xfrm>
          <a:prstGeom prst="line">
            <a:avLst/>
          </a:prstGeom>
          <a:ln w="1778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03720" y="3657600"/>
            <a:ext cx="731520" cy="713232"/>
          </a:xfrm>
          <a:prstGeom prst="line">
            <a:avLst/>
          </a:prstGeom>
          <a:ln w="1778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75320" y="4617720"/>
            <a:ext cx="1161288" cy="45720"/>
          </a:xfrm>
          <a:prstGeom prst="line">
            <a:avLst/>
          </a:prstGeom>
          <a:ln w="1778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829800" y="3977639"/>
            <a:ext cx="365760" cy="457201"/>
          </a:xfrm>
          <a:prstGeom prst="line">
            <a:avLst/>
          </a:prstGeom>
          <a:ln w="1778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9808" y="5806440"/>
            <a:ext cx="10515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4C805C"/>
                </a:solidFill>
                <a:latin typeface="Aptos"/>
              </a:rPr>
              <a:t>Prototype status: a frontend demonstration using sample data and browser-side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03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F4D39"/>
                </a:solidFill>
                <a:latin typeface="Aptos"/>
              </a:rPr>
              <a:t>Useful skills are nearby, but hard to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167"/>
                </a:solidFill>
                <a:latin typeface="Aptos"/>
              </a:rPr>
              <a:t>Skill sharing often depends on personal contacts, scattered posts, or formal classes.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713232" cy="50292"/>
          </a:xfrm>
          <a:prstGeom prst="rect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716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0156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13432"/>
            <a:ext cx="50292" cy="1911096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2350008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395728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350008"/>
            <a:ext cx="24688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Discovery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2962656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People may not know which neighbors can teach a skill.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148840"/>
            <a:ext cx="340156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8848" y="2313432"/>
            <a:ext cx="50292" cy="1911096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18304" y="2350008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395728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350008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Access barriers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898648"/>
            <a:ext cx="2962656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Formal lessons can be costly or difficult to fit into daily life.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6" y="2148840"/>
            <a:ext cx="3401568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6" y="2313432"/>
            <a:ext cx="50292" cy="1911096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85632" y="2350008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2395728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350008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Disconnected communities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2898648"/>
            <a:ext cx="2962656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Local knowledge exists, but residents lack a simple way to connect around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800600"/>
            <a:ext cx="10698480" cy="914400"/>
          </a:xfrm>
          <a:prstGeom prst="roundRect">
            <a:avLst/>
          </a:prstGeom>
          <a:solidFill>
            <a:srgbClr val="1F4D39"/>
          </a:solidFill>
          <a:ln>
            <a:solidFill>
              <a:srgbClr val="1F4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DBEBDB"/>
                </a:solidFill>
                <a:latin typeface="Aptos"/>
              </a:rPr>
              <a:t>NEED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10912"/>
            <a:ext cx="9052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A simple, neighborhood-focused space to list skills, discover offerings, and request knowledge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04 /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F4D39"/>
                </a:solidFill>
                <a:latin typeface="Aptos"/>
              </a:rPr>
              <a:t>One place to offer, find, and request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167"/>
                </a:solidFill>
                <a:latin typeface="Aptos"/>
              </a:rPr>
              <a:t>SkillCircle organizes informal neighborhood knowledge sharing into a simple browsing-and-request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713232" cy="50292"/>
          </a:xfrm>
          <a:prstGeom prst="rect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716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5029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221992"/>
            <a:ext cx="50292" cy="969264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258568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04288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258568"/>
            <a:ext cx="40965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Browse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807208"/>
            <a:ext cx="4590288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Explore sample listings and find relevant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057400"/>
            <a:ext cx="5029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221992"/>
            <a:ext cx="50292" cy="969264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55664" y="2258568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304288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258568"/>
            <a:ext cx="40965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Filter &amp; 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807208"/>
            <a:ext cx="4590288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Narrow the list by category or search term.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30168"/>
            <a:ext cx="5029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794759"/>
            <a:ext cx="50292" cy="969264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3831335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877056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3831335"/>
            <a:ext cx="40965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Offer a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7" y="4379976"/>
            <a:ext cx="4590288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Add a skill with a title, category, and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630168"/>
            <a:ext cx="5029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794759"/>
            <a:ext cx="50292" cy="969264"/>
          </a:xfrm>
          <a:prstGeom prst="rect">
            <a:avLst/>
          </a:prstGeom>
          <a:solidFill>
            <a:srgbClr val="4C805C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5664" y="3831335"/>
            <a:ext cx="438912" cy="43891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877056"/>
            <a:ext cx="4389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F4D39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3831335"/>
            <a:ext cx="40965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Request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379976"/>
            <a:ext cx="4590288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7167"/>
                </a:solidFill>
                <a:latin typeface="Aptos"/>
              </a:rPr>
              <a:t>Submit a request and view its demo status.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ADVANTAGE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376672"/>
            <a:ext cx="8961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A lightweight interface for discovering local knowledge and making the first connection.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8932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47167"/>
                </a:solidFill>
                <a:latin typeface="Aptos"/>
              </a:rPr>
              <a:t>Current prototype: browser-side demo only. Shared accounts, persistent storage, and real messaging are not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05 /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F4D39"/>
                </a:solidFill>
                <a:latin typeface="Aptos"/>
              </a:rPr>
              <a:t>Built as a lightweight frontend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167"/>
                </a:solidFill>
                <a:latin typeface="Aptos"/>
              </a:rPr>
              <a:t>The current stack is intentionally simple; backend and database technologies are future options.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713232" cy="50292"/>
          </a:xfrm>
          <a:prstGeom prst="rect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716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CURRENTLY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788920"/>
            <a:ext cx="1234440" cy="438912"/>
          </a:xfrm>
          <a:prstGeom prst="roundRect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80360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F4D39"/>
                </a:solidFill>
                <a:latin typeface="Aptos"/>
              </a:rPr>
              <a:t>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34639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6312A"/>
                </a:solidFill>
                <a:latin typeface="Aptos"/>
              </a:rPr>
              <a:t>Page structure and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547872"/>
            <a:ext cx="1234440" cy="438912"/>
          </a:xfrm>
          <a:prstGeom prst="roundRect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39312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F4D39"/>
                </a:solidFill>
                <a:latin typeface="Aptos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593591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6312A"/>
                </a:solidFill>
                <a:latin typeface="Aptos"/>
              </a:rPr>
              <a:t>Layout, visual styling, responsive 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306824"/>
            <a:ext cx="1234440" cy="438912"/>
          </a:xfrm>
          <a:prstGeom prst="roundRect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98264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F4D39"/>
                </a:solidFill>
                <a:latin typeface="Aptos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352544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6312A"/>
                </a:solidFill>
                <a:latin typeface="Aptos"/>
              </a:rPr>
              <a:t>Search, filtering, forms, and demo request interactions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057400"/>
            <a:ext cx="5230368" cy="3383280"/>
          </a:xfrm>
          <a:prstGeom prst="roundRect">
            <a:avLst/>
          </a:prstGeom>
          <a:solidFill>
            <a:srgbClr val="EDF3E9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3383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POTENTIAL FUTURE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788920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1783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F4D39"/>
                </a:solidFill>
                <a:latin typeface="Aptos"/>
              </a:rPr>
              <a:t>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834639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6312A"/>
                </a:solidFill>
                <a:latin typeface="Aptos"/>
              </a:rPr>
              <a:t>Reusable UI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47872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639312"/>
            <a:ext cx="1783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F4D39"/>
                </a:solidFill>
                <a:latin typeface="Aptos"/>
              </a:rPr>
              <a:t>Node.js /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593591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6312A"/>
                </a:solidFill>
                <a:latin typeface="Aptos"/>
              </a:rPr>
              <a:t>Backend API and request handling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306824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98264"/>
            <a:ext cx="1783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1F4D39"/>
                </a:solidFill>
                <a:latin typeface="Aptos"/>
              </a:rPr>
              <a:t>Supabase /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352544"/>
            <a:ext cx="2468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6312A"/>
                </a:solidFill>
                <a:latin typeface="Aptos"/>
              </a:rPr>
              <a:t>Authentication and persistent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806440"/>
            <a:ext cx="10561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Development tools: a code editor and web browser can be used to edit and test the static prototype. Specific tools should be confirmed from the project setup.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06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F4D39"/>
                </a:solidFill>
                <a:latin typeface="Aptos"/>
              </a:rPr>
              <a:t>Current prototype and future full-stack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167"/>
                </a:solidFill>
                <a:latin typeface="Aptos"/>
              </a:rPr>
              <a:t>Solid blocks represent the current demo; dashed-outline blocks represent possible future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713232" cy="50292"/>
          </a:xfrm>
          <a:prstGeom prst="rect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7167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CURRENT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F4D39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63239"/>
            <a:ext cx="18379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Browses the 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560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724912"/>
            <a:ext cx="211226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F4D39"/>
                </a:solidFill>
                <a:latin typeface="Aptos"/>
              </a:rPr>
              <a:t>Browser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063239"/>
            <a:ext cx="211226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HTML +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724912"/>
            <a:ext cx="211226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F4D39"/>
                </a:solidFill>
                <a:latin typeface="Aptos"/>
              </a:rP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39"/>
            <a:ext cx="211226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5603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C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724912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F4D39"/>
                </a:solidFill>
                <a:latin typeface="Aptos"/>
              </a:rPr>
              <a:t>Demo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3063239"/>
            <a:ext cx="18379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In memory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53512" y="3017520"/>
            <a:ext cx="365760" cy="0"/>
          </a:xfrm>
          <a:prstGeom prst="line">
            <a:avLst/>
          </a:prstGeom>
          <a:ln w="2159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33872" y="3017520"/>
            <a:ext cx="365760" cy="0"/>
          </a:xfrm>
          <a:prstGeom prst="line">
            <a:avLst/>
          </a:prstGeom>
          <a:ln w="2159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14232" y="3017520"/>
            <a:ext cx="365760" cy="0"/>
          </a:xfrm>
          <a:prstGeom prst="line">
            <a:avLst/>
          </a:prstGeom>
          <a:ln w="2159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3977639"/>
            <a:ext cx="4114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POSSIBLE FUTURE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80560"/>
            <a:ext cx="2057400" cy="868680"/>
          </a:xfrm>
          <a:prstGeom prst="roundRect">
            <a:avLst/>
          </a:prstGeom>
          <a:solidFill>
            <a:srgbClr val="F9F7EF"/>
          </a:solidFill>
          <a:ln>
            <a:solidFill>
              <a:srgbClr val="CF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26864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974336"/>
            <a:ext cx="18379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Web interface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480560"/>
            <a:ext cx="2057400" cy="868680"/>
          </a:xfrm>
          <a:prstGeom prst="roundRect">
            <a:avLst/>
          </a:prstGeom>
          <a:solidFill>
            <a:srgbClr val="F9F7EF"/>
          </a:solidFill>
          <a:ln>
            <a:solidFill>
              <a:srgbClr val="CF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4626864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Backend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974336"/>
            <a:ext cx="18379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Business logic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480560"/>
            <a:ext cx="2057400" cy="868680"/>
          </a:xfrm>
          <a:prstGeom prst="roundRect">
            <a:avLst/>
          </a:prstGeom>
          <a:solidFill>
            <a:srgbClr val="F9F7EF"/>
          </a:solidFill>
          <a:ln>
            <a:solidFill>
              <a:srgbClr val="CF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626864"/>
            <a:ext cx="1837943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Auth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974336"/>
            <a:ext cx="183794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User accounts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4480560"/>
            <a:ext cx="2606040" cy="868680"/>
          </a:xfrm>
          <a:prstGeom prst="roundRect">
            <a:avLst/>
          </a:prstGeom>
          <a:solidFill>
            <a:srgbClr val="F9F7EF"/>
          </a:solidFill>
          <a:ln>
            <a:solidFill>
              <a:srgbClr val="CF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7" y="4626864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7" y="4974336"/>
            <a:ext cx="23865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647167"/>
                </a:solidFill>
                <a:latin typeface="Aptos"/>
              </a:rPr>
              <a:t>Shared persistent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53512" y="4910328"/>
            <a:ext cx="365760" cy="0"/>
          </a:xfrm>
          <a:prstGeom prst="line">
            <a:avLst/>
          </a:prstGeom>
          <a:ln w="21590">
            <a:solidFill>
              <a:srgbClr val="CF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59552" y="4910328"/>
            <a:ext cx="365760" cy="0"/>
          </a:xfrm>
          <a:prstGeom prst="line">
            <a:avLst/>
          </a:prstGeom>
          <a:ln w="21590">
            <a:solidFill>
              <a:srgbClr val="CF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165592" y="4910328"/>
            <a:ext cx="365760" cy="0"/>
          </a:xfrm>
          <a:prstGeom prst="line">
            <a:avLst/>
          </a:prstGeom>
          <a:ln w="21590">
            <a:solidFill>
              <a:srgbClr val="CF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806440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647167"/>
                </a:solidFill>
                <a:latin typeface="Aptos"/>
              </a:rPr>
              <a:t>Messaging and notifications could be added as separate modules in a later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C805C"/>
                </a:solidFill>
                <a:latin typeface="Aptos"/>
              </a:rPr>
              <a:t>07 / METHODOLOGY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F4D39"/>
                </a:solidFill>
                <a:latin typeface="Aptos"/>
              </a:rPr>
              <a:t>From skill discovery to a learning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47167"/>
                </a:solidFill>
                <a:latin typeface="Aptos"/>
              </a:rPr>
              <a:t>The prototype demonstrates the basic flow using sample data and local browser interactions.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713232" cy="50292"/>
          </a:xfrm>
          <a:prstGeom prst="rect">
            <a:avLst/>
          </a:prstGeom>
          <a:solidFill>
            <a:srgbClr val="CFA95C"/>
          </a:solidFill>
          <a:ln>
            <a:solidFill>
              <a:srgbClr val="CF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716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2148840"/>
            <a:ext cx="621792" cy="62179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304288"/>
            <a:ext cx="6217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7180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47167"/>
                </a:solidFill>
                <a:latin typeface="Aptos"/>
              </a:rPr>
              <a:t>User browses listings or enters a skill to offer.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39" y="3337560"/>
            <a:ext cx="667513" cy="0"/>
          </a:xfrm>
          <a:prstGeom prst="line">
            <a:avLst/>
          </a:prstGeom>
          <a:ln w="2286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242316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5112" y="2148840"/>
            <a:ext cx="621792" cy="62179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2304288"/>
            <a:ext cx="6217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97180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56432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47167"/>
                </a:solidFill>
                <a:latin typeface="Aptos"/>
              </a:rPr>
              <a:t>JavaScript searches, filters, or validates form input.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15000" y="3337560"/>
            <a:ext cx="667512" cy="0"/>
          </a:xfrm>
          <a:prstGeom prst="line">
            <a:avLst/>
          </a:prstGeom>
          <a:ln w="2286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242316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05472" y="2148840"/>
            <a:ext cx="621792" cy="621792"/>
          </a:xfrm>
          <a:prstGeom prst="ellipse">
            <a:avLst/>
          </a:prstGeom>
          <a:solidFill>
            <a:srgbClr val="DBEBDB"/>
          </a:solidFill>
          <a:ln>
            <a:solidFill>
              <a:srgbClr val="DBE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2304288"/>
            <a:ext cx="6217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297180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Core operation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56432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47167"/>
                </a:solidFill>
                <a:latin typeface="Aptos"/>
              </a:rPr>
              <a:t>A skill can be added or a demo request submitted.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59" y="3337560"/>
            <a:ext cx="667513" cy="0"/>
          </a:xfrm>
          <a:prstGeom prst="line">
            <a:avLst/>
          </a:prstGeom>
          <a:ln w="22860">
            <a:solidFill>
              <a:srgbClr val="4C8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242316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85832" y="2148840"/>
            <a:ext cx="621792" cy="621792"/>
          </a:xfrm>
          <a:prstGeom prst="ellipse">
            <a:avLst/>
          </a:prstGeom>
          <a:solidFill>
            <a:srgbClr val="E7DDBD"/>
          </a:solidFill>
          <a:ln>
            <a:solidFill>
              <a:srgbClr val="E7D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2304288"/>
            <a:ext cx="6217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F4D39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97180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F4D39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456432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47167"/>
                </a:solidFill>
                <a:latin typeface="Aptos"/>
              </a:rPr>
              <a:t>The interface updates to show listings or request status.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074920"/>
            <a:ext cx="10149840" cy="777240"/>
          </a:xfrm>
          <a:prstGeom prst="roundRect">
            <a:avLst/>
          </a:prstGeom>
          <a:solidFill>
            <a:srgbClr val="1F4D39"/>
          </a:solidFill>
          <a:ln>
            <a:solidFill>
              <a:srgbClr val="1F4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30352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Result: a clear local skill-sharing interface that demonstrates the core journey.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080760"/>
            <a:ext cx="10149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1">
                <a:solidFill>
                  <a:srgbClr val="647167"/>
                </a:solidFill>
                <a:latin typeface="Aptos"/>
              </a:rPr>
              <a:t>Note: data is not shared across users and does not persist as a live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SkillCircle Hackathon Presentation</dc:title>
  <dc:subject>Neighborhood Skill Exchange Platform</dc:subject>
  <dc:creator>SkillCircle Team</dc:creator>
  <cp:keywords>SkillCircle, hackathon, skill exchange, community learning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